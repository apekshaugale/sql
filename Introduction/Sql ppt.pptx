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0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4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7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6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4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5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0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91679"/>
            <a:ext cx="9144000" cy="87328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History of SQL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EAF1E-84AB-D9DC-F1DC-FB449C518E0B}"/>
              </a:ext>
            </a:extLst>
          </p:cNvPr>
          <p:cNvSpPr txBox="1"/>
          <p:nvPr/>
        </p:nvSpPr>
        <p:spPr>
          <a:xfrm>
            <a:off x="626302" y="1111686"/>
            <a:ext cx="1092895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SQL was originally known as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SEQUEL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, which stands for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Structured English Query Language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. </a:t>
            </a:r>
            <a:r>
              <a:rPr lang="en-US" sz="28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  <a:br>
              <a:rPr lang="en-US" sz="2800" b="0" i="0">
                <a:latin typeface="Times New Roman"/>
                <a:ea typeface="Segoe UI"/>
                <a:cs typeface="Times New Roman"/>
              </a:rPr>
            </a:br>
            <a:endParaRPr lang="en-US" sz="2800">
              <a:solidFill>
                <a:srgbClr val="000000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SEQUEL was developed by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D. Chamberlin and F. Boyce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at IBM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in the 1970s and first version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is released in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1979.</a:t>
            </a:r>
            <a:r>
              <a:rPr lang="en-US" sz="28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  <a:endParaRPr lang="en-US" sz="2800">
              <a:solidFill>
                <a:srgbClr val="000000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sz="2800">
              <a:solidFill>
                <a:srgbClr val="000000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SEQUEL was later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renamed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as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SQL(Structured Query Language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.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) 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in year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1981 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by the person </a:t>
            </a:r>
            <a:r>
              <a:rPr lang="en-US" sz="2800" b="1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E. F. Codd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.</a:t>
            </a:r>
            <a:r>
              <a:rPr lang="en-US" sz="28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marL="457200" indent="-457200">
              <a:buFont typeface="Arial"/>
              <a:buChar char="•"/>
            </a:pPr>
            <a:endParaRPr lang="en-US" sz="2800">
              <a:solidFill>
                <a:srgbClr val="000000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 rtl="0">
              <a:buFont typeface="Arial"/>
              <a:buChar char="•"/>
            </a:pP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Today</a:t>
            </a:r>
            <a:r>
              <a:rPr lang="en-US" sz="28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r>
              <a:rPr lang="en-US" sz="280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          </a:t>
            </a:r>
            <a:r>
              <a:rPr lang="en-US" sz="2800" b="0" i="0" u="none" strike="noStrike" baseline="0">
                <a:solidFill>
                  <a:srgbClr val="35403A"/>
                </a:solidFill>
                <a:latin typeface="Times New Roman"/>
                <a:ea typeface="Segoe UI"/>
                <a:cs typeface="Times New Roman"/>
              </a:rPr>
              <a:t>Maintained by Oracle</a:t>
            </a:r>
            <a:r>
              <a:rPr lang="en-US" sz="28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marL="457200" indent="-457200">
              <a:buFont typeface="Arial"/>
              <a:buChar char="•"/>
            </a:pP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51CE-3C46-409A-07FD-96479F37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19" y="362587"/>
            <a:ext cx="10661653" cy="5699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cs typeface="Times New Roman"/>
              </a:rPr>
              <a:t>SQL :</a:t>
            </a:r>
          </a:p>
          <a:p>
            <a:pPr marL="0" indent="0">
              <a:buNone/>
            </a:pPr>
            <a:r>
              <a:rPr lang="en-US" sz="2900">
                <a:latin typeface="Times New Roman"/>
                <a:cs typeface="Times New Roman"/>
              </a:rPr>
              <a:t> </a:t>
            </a:r>
            <a:r>
              <a:rPr lang="en-US" sz="2800">
                <a:latin typeface="Times New Roman"/>
                <a:cs typeface="Times New Roman"/>
              </a:rPr>
              <a:t>Backend technology to communicate with software known as </a:t>
            </a:r>
            <a:r>
              <a:rPr lang="en-US" sz="2800" b="1">
                <a:latin typeface="Times New Roman"/>
                <a:cs typeface="Times New Roman"/>
              </a:rPr>
              <a:t>RDBMS </a:t>
            </a:r>
            <a:r>
              <a:rPr lang="en-US" sz="2800">
                <a:latin typeface="Times New Roman"/>
                <a:cs typeface="Times New Roman"/>
              </a:rPr>
              <a:t>(Relational Database Management System)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cs typeface="Times New Roman"/>
              </a:rPr>
              <a:t>Database :</a:t>
            </a:r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Database it is place in which we store a data or</a:t>
            </a:r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 information in systematic and organized manner.</a:t>
            </a: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>
                <a:latin typeface="Times New Roman"/>
                <a:cs typeface="Times New Roman"/>
              </a:rPr>
              <a:t>On database we perform four operations called</a:t>
            </a:r>
          </a:p>
          <a:p>
            <a:pPr marL="0" indent="0">
              <a:buNone/>
            </a:pPr>
            <a:r>
              <a:rPr lang="en-US" sz="2800">
                <a:latin typeface="Times New Roman"/>
                <a:cs typeface="Times New Roman"/>
              </a:rPr>
              <a:t>CRUD operation.</a:t>
            </a: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0193C-3861-6835-D457-EBF5BE52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CCC12-892D-4A6D-B3E3-C3DA932CF07C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6B588-786F-63EA-91A1-F8E9CEFB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C142-DDC9-0FAB-3187-17181A14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  <p:pic>
        <p:nvPicPr>
          <p:cNvPr id="7" name="Picture 6" descr="crud_cylinder_diagram.jpg">
            <a:extLst>
              <a:ext uri="{FF2B5EF4-FFF2-40B4-BE49-F238E27FC236}">
                <a16:creationId xmlns:a16="http://schemas.microsoft.com/office/drawing/2014/main" id="{8F0FE938-B2B9-B8AB-F5EA-0342D2E0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181" y="2391429"/>
            <a:ext cx="3922732" cy="43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55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DCBB-BCC4-3E7D-49C1-0BD36EE9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DBMS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35D23-356E-F6E5-DA47-C2BE2109F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89" y="1124587"/>
            <a:ext cx="10724283" cy="384118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/>
              <a:t>DBMS is a</a:t>
            </a:r>
            <a:r>
              <a:rPr lang="en-US" sz="2800" b="1"/>
              <a:t> software </a:t>
            </a:r>
            <a:r>
              <a:rPr lang="en-US" sz="2800"/>
              <a:t>which is used to</a:t>
            </a:r>
            <a:r>
              <a:rPr lang="en-US" sz="2800" b="1"/>
              <a:t> maintain and managed</a:t>
            </a:r>
            <a:r>
              <a:rPr lang="en-US" sz="2800"/>
              <a:t> the database.</a:t>
            </a:r>
          </a:p>
          <a:p>
            <a:r>
              <a:rPr lang="en-US" sz="2800" b="1"/>
              <a:t>Externally</a:t>
            </a:r>
            <a:r>
              <a:rPr lang="en-US" sz="2800"/>
              <a:t> it will store data in form of </a:t>
            </a:r>
            <a:r>
              <a:rPr lang="en-US" sz="2800" b="1"/>
              <a:t>file</a:t>
            </a:r>
            <a:r>
              <a:rPr lang="en-US" sz="2800"/>
              <a:t> format but </a:t>
            </a:r>
            <a:r>
              <a:rPr lang="en-US" sz="2800" b="1"/>
              <a:t>internally</a:t>
            </a:r>
            <a:r>
              <a:rPr lang="en-US" sz="2800"/>
              <a:t> it will store in the form of</a:t>
            </a:r>
            <a:r>
              <a:rPr lang="en-US" sz="2800" b="1"/>
              <a:t> table</a:t>
            </a:r>
            <a:r>
              <a:rPr lang="en-US" sz="2800"/>
              <a:t> and </a:t>
            </a:r>
            <a:r>
              <a:rPr lang="en-US" sz="2800" b="1" err="1"/>
              <a:t>json</a:t>
            </a:r>
            <a:r>
              <a:rPr lang="en-US" sz="2800"/>
              <a:t> form.</a:t>
            </a:r>
          </a:p>
          <a:p>
            <a:r>
              <a:rPr lang="en-US" sz="2800"/>
              <a:t>To interact with DBMS </a:t>
            </a:r>
            <a:r>
              <a:rPr lang="en-US" sz="2800" err="1"/>
              <a:t>software</a:t>
            </a:r>
            <a:r>
              <a:rPr lang="en-US" sz="2800"/>
              <a:t> we uses query language .</a:t>
            </a:r>
          </a:p>
          <a:p>
            <a:r>
              <a:rPr lang="en-US" sz="2800"/>
              <a:t>Types:</a:t>
            </a:r>
          </a:p>
          <a:p>
            <a:pPr marL="0" indent="0">
              <a:buNone/>
            </a:pPr>
            <a:r>
              <a:rPr lang="en-US" sz="2800"/>
              <a:t>    </a:t>
            </a:r>
            <a:r>
              <a:rPr lang="en-US" sz="2800" b="1">
                <a:solidFill>
                  <a:srgbClr val="35403A"/>
                </a:solidFill>
              </a:rPr>
              <a:t>1.Relational </a:t>
            </a:r>
            <a:r>
              <a:rPr lang="en-US" sz="2800" b="1" err="1">
                <a:solidFill>
                  <a:srgbClr val="35403A"/>
                </a:solidFill>
              </a:rPr>
              <a:t>DataBase</a:t>
            </a:r>
            <a:r>
              <a:rPr lang="en-US" sz="2800" b="1">
                <a:solidFill>
                  <a:srgbClr val="35403A"/>
                </a:solidFill>
              </a:rPr>
              <a:t> Management System</a:t>
            </a:r>
          </a:p>
          <a:p>
            <a:pPr marL="0" indent="0">
              <a:buNone/>
            </a:pPr>
            <a:r>
              <a:rPr lang="en-US" sz="2800" b="1">
                <a:solidFill>
                  <a:srgbClr val="35403A"/>
                </a:solidFill>
              </a:rPr>
              <a:t>    2.Non-Relational </a:t>
            </a:r>
            <a:r>
              <a:rPr lang="en-US" sz="2800" b="1" err="1">
                <a:solidFill>
                  <a:srgbClr val="35403A"/>
                </a:solidFill>
              </a:rPr>
              <a:t>DataBase</a:t>
            </a:r>
            <a:r>
              <a:rPr lang="en-US" sz="2800" b="1">
                <a:solidFill>
                  <a:srgbClr val="35403A"/>
                </a:solidFill>
              </a:rPr>
              <a:t> Management System</a:t>
            </a:r>
          </a:p>
          <a:p>
            <a:pPr marL="0" indent="0">
              <a:buNone/>
            </a:pPr>
            <a:endParaRPr lang="en-US" sz="28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876C-CF95-8608-ECC1-2CA6CB84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1CC4-872F-44D8-8CD3-5329AC7609A7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81546-E41E-DA40-4ABD-30A513AA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5A79A-BF35-126D-DCD5-68345188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A2DCD-567C-D3DB-F941-AAC777DE7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11" t="9269" r="1111" b="10436"/>
          <a:stretch>
            <a:fillRect/>
          </a:stretch>
        </p:blipFill>
        <p:spPr>
          <a:xfrm>
            <a:off x="7794172" y="3427332"/>
            <a:ext cx="4299865" cy="29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1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FEF9-DC00-F143-D4A2-160E2A95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948" y="1078101"/>
            <a:ext cx="5338421" cy="24222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RDBMS And NRDBMS:</a:t>
            </a:r>
            <a:b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</a:br>
            <a:endParaRPr lang="en-US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233A9E-83CD-70EA-73D1-2C35D9BE3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281" y="2120906"/>
            <a:ext cx="4302905" cy="417227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71883-0B67-844F-9816-2A4446E5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0E914-8064-453B-8E53-4C38FA5FB96C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1183-7CA4-9A81-F78B-450A4620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D3E86-F24B-E108-A590-E57DF2FF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3502C8-D2FD-4E38-65A1-CB06B6711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99" r="5197" b="7361"/>
          <a:stretch>
            <a:fillRect/>
          </a:stretch>
        </p:blipFill>
        <p:spPr>
          <a:xfrm>
            <a:off x="6638495" y="2116897"/>
            <a:ext cx="4288975" cy="4173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5537B3-7978-6A61-F5AF-717F6A895D17}"/>
              </a:ext>
            </a:extLst>
          </p:cNvPr>
          <p:cNvSpPr txBox="1"/>
          <p:nvPr/>
        </p:nvSpPr>
        <p:spPr>
          <a:xfrm>
            <a:off x="832309" y="818852"/>
            <a:ext cx="927239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               </a:t>
            </a:r>
            <a:r>
              <a:rPr lang="en-US" sz="2800">
                <a:latin typeface="Times New Roman"/>
                <a:cs typeface="Times New Roman"/>
              </a:rPr>
              <a:t>It is a types of DBMS which is used to store data .</a:t>
            </a:r>
          </a:p>
          <a:p>
            <a:endParaRPr lang="en-US" sz="2800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cs typeface="Times New Roman"/>
              </a:rPr>
              <a:t>RDBMS                                                                NRDBMS</a:t>
            </a:r>
            <a:r>
              <a:rPr lang="en-US" sz="2800">
                <a:latin typeface="Times New Roman"/>
                <a:cs typeface="Times New Roman"/>
              </a:rPr>
              <a:t> 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338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B992-399E-C858-4FA3-0E44B47F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441298"/>
          </a:xfrm>
        </p:spPr>
        <p:txBody>
          <a:bodyPr>
            <a:normAutofit fontScale="90000"/>
          </a:bodyPr>
          <a:lstStyle/>
          <a:p>
            <a:r>
              <a:rPr lang="en-US" err="1"/>
              <a:t>Differenciate</a:t>
            </a:r>
            <a:r>
              <a:rPr lang="en-US"/>
              <a:t> 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CE0F96-C7AF-8300-2A42-A284DF0D7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310611"/>
              </p:ext>
            </p:extLst>
          </p:nvPr>
        </p:nvGraphicFramePr>
        <p:xfrm>
          <a:off x="501041" y="949890"/>
          <a:ext cx="10825457" cy="534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4897">
                  <a:extLst>
                    <a:ext uri="{9D8B030D-6E8A-4147-A177-3AD203B41FA5}">
                      <a16:colId xmlns:a16="http://schemas.microsoft.com/office/drawing/2014/main" val="4057371782"/>
                    </a:ext>
                  </a:extLst>
                </a:gridCol>
                <a:gridCol w="5410560">
                  <a:extLst>
                    <a:ext uri="{9D8B030D-6E8A-4147-A177-3AD203B41FA5}">
                      <a16:colId xmlns:a16="http://schemas.microsoft.com/office/drawing/2014/main" val="776677660"/>
                    </a:ext>
                  </a:extLst>
                </a:gridCol>
              </a:tblGrid>
              <a:tr h="3783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NRDBMS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7947"/>
                  </a:ext>
                </a:extLst>
              </a:tr>
              <a:tr h="8106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Easy </a:t>
                      </a:r>
                      <a:r>
                        <a:rPr lang="en-US"/>
                        <a:t>to maintain the data due to</a:t>
                      </a:r>
                      <a:r>
                        <a:rPr lang="en-US" b="1"/>
                        <a:t> table format</a:t>
                      </a:r>
                      <a:r>
                        <a:rPr lang="en-US"/>
                        <a:t> organization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Difficult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to maintain the data due to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 err="1">
                          <a:solidFill>
                            <a:srgbClr val="000000"/>
                          </a:solidFill>
                          <a:latin typeface="Aptos Light"/>
                        </a:rPr>
                        <a:t>json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format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organization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439480"/>
                  </a:ext>
                </a:extLst>
              </a:tr>
              <a:tr h="430582">
                <a:tc>
                  <a:txBody>
                    <a:bodyPr/>
                    <a:lstStyle/>
                    <a:p>
                      <a:r>
                        <a:rPr lang="en-US"/>
                        <a:t>It is suitable for</a:t>
                      </a:r>
                      <a:r>
                        <a:rPr lang="en-US" b="1"/>
                        <a:t> text 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 is suitable for </a:t>
                      </a:r>
                      <a:r>
                        <a:rPr lang="en-US" b="1"/>
                        <a:t>multi-media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039301"/>
                  </a:ext>
                </a:extLst>
              </a:tr>
              <a:tr h="810646">
                <a:tc>
                  <a:txBody>
                    <a:bodyPr/>
                    <a:lstStyle/>
                    <a:p>
                      <a:r>
                        <a:rPr lang="en-US"/>
                        <a:t>RDBMS will not </a:t>
                      </a:r>
                      <a:r>
                        <a:rPr lang="en-US" b="1"/>
                        <a:t>support</a:t>
                      </a:r>
                      <a:r>
                        <a:rPr lang="en-US"/>
                        <a:t> for nested concept.it supports </a:t>
                      </a:r>
                      <a:r>
                        <a:rPr lang="en-US" b="1"/>
                        <a:t>relations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 </a:t>
                      </a:r>
                      <a:r>
                        <a:rPr lang="en-US" b="1"/>
                        <a:t>supports nested concept</a:t>
                      </a:r>
                      <a:r>
                        <a:rPr lang="en-US"/>
                        <a:t> (file inside file)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351924"/>
                  </a:ext>
                </a:extLst>
              </a:tr>
              <a:tr h="4827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Schema Validation </a:t>
                      </a:r>
                      <a:r>
                        <a:rPr lang="en-US"/>
                        <a:t>is </a:t>
                      </a:r>
                      <a:r>
                        <a:rPr lang="en-US" sz="1800" b="1" i="0" u="none" strike="noStrike" noProof="0">
                          <a:latin typeface="Aptos Light"/>
                        </a:rPr>
                        <a:t>mandatory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Schema validation is </a:t>
                      </a:r>
                      <a:r>
                        <a:rPr lang="en-US" b="1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30129"/>
                  </a:ext>
                </a:extLst>
              </a:tr>
              <a:tr h="8106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It supports only</a:t>
                      </a:r>
                      <a:r>
                        <a:rPr lang="en-US" b="1"/>
                        <a:t> vertical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It supports both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horizontal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 and 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ptos Light"/>
                        </a:rPr>
                        <a:t>vertical scaling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959975"/>
                  </a:ext>
                </a:extLst>
              </a:tr>
              <a:tr h="8106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RDBMS will support </a:t>
                      </a:r>
                      <a:r>
                        <a:rPr lang="en-US" b="1"/>
                        <a:t>complex queries(</a:t>
                      </a:r>
                      <a:r>
                        <a:rPr lang="en-US" b="1" err="1"/>
                        <a:t>joint,subqueries</a:t>
                      </a:r>
                      <a:r>
                        <a:rPr lang="en-US" b="1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It won't support complex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43995"/>
                  </a:ext>
                </a:extLst>
              </a:tr>
              <a:tr h="8106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err="1"/>
                        <a:t>Mysql</a:t>
                      </a:r>
                      <a:r>
                        <a:rPr lang="en-US" b="1"/>
                        <a:t>, Oracle SQL , </a:t>
                      </a:r>
                      <a:r>
                        <a:rPr lang="en-US" b="1" err="1"/>
                        <a:t>Postgrey</a:t>
                      </a:r>
                      <a:r>
                        <a:rPr lang="en-US" b="1"/>
                        <a:t>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MangoDB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AmazonDB</a:t>
                      </a:r>
                      <a:r>
                        <a:rPr lang="en-US"/>
                        <a:t> ,Django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49232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0966E-16F7-3094-13AF-EFA8788D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64EB1-4FAE-4CC6-8A0D-C793DC6094D0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00742-EC22-D96A-5618-D1BFF7E8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AE35-A55B-9B94-236C-08384C86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1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3DDF-F533-F567-008E-D92B1CB5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40998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Table 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C8C1CF-A1DA-127F-D4B8-FDC9BA149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884" r="107" b="8696"/>
          <a:stretch>
            <a:fillRect/>
          </a:stretch>
        </p:blipFill>
        <p:spPr>
          <a:xfrm>
            <a:off x="732689" y="1391021"/>
            <a:ext cx="10944348" cy="51438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80AEA-BB5E-1C6C-F735-24266D1A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445C7-F459-4B83-B157-951DAB5AF0EB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C6920-7DC4-FB27-FC1D-229330A4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85CB7-AD90-C733-03E5-6D83F1A5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73877-C137-341C-E3CE-EC4FEB3AC349}"/>
              </a:ext>
            </a:extLst>
          </p:cNvPr>
          <p:cNvSpPr txBox="1"/>
          <p:nvPr/>
        </p:nvSpPr>
        <p:spPr>
          <a:xfrm>
            <a:off x="2019273" y="1004238"/>
            <a:ext cx="69515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Logical arrangement of rows and column are called table .</a:t>
            </a:r>
          </a:p>
        </p:txBody>
      </p:sp>
    </p:spTree>
    <p:extLst>
      <p:ext uri="{BB962C8B-B14F-4D97-AF65-F5344CB8AC3E}">
        <p14:creationId xmlns:p14="http://schemas.microsoft.com/office/powerpoint/2010/main" val="341977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682" y="360000"/>
            <a:ext cx="10980636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Rules of Table : Rule 1 — Atomic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  <p:pic>
        <p:nvPicPr>
          <p:cNvPr id="8" name="Ru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75" y="1550000"/>
            <a:ext cx="9212849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682" y="360000"/>
            <a:ext cx="10980636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Rules of Table : Rule 2 — Schema Validation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  <p:pic>
        <p:nvPicPr>
          <p:cNvPr id="8" name="Ru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06" y="1550000"/>
            <a:ext cx="8083387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682" y="360000"/>
            <a:ext cx="10980636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Rules of Table : Rule 3 — Key Attributes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/>
          </a:p>
        </p:txBody>
      </p:sp>
      <p:pic>
        <p:nvPicPr>
          <p:cNvPr id="8" name="Ru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90" y="1550000"/>
            <a:ext cx="8635420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682" y="360000"/>
            <a:ext cx="10980636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Rules of Table : Rule 4 — Metadata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/>
          </a:p>
        </p:txBody>
      </p:sp>
      <p:pic>
        <p:nvPicPr>
          <p:cNvPr id="8" name="Ru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90" y="1550000"/>
            <a:ext cx="8635420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9D2B-E825-E228-305F-9D0F2FDA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Schema Validation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208A-D783-5658-1DFB-036360E1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Times New Roman"/>
                <a:ea typeface="+mn-lt"/>
                <a:cs typeface="Times New Roman"/>
              </a:rPr>
              <a:t>It is the process of validating or verifying whether the proper data is getting stored in the respective column or not.</a:t>
            </a:r>
            <a:endParaRPr lang="en-US"/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schema validation we can do by assigning two things to the column:</a:t>
            </a: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              By assigning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 datatype </a:t>
            </a:r>
            <a:r>
              <a:rPr lang="en-US" sz="2800">
                <a:latin typeface="Times New Roman"/>
                <a:ea typeface="+mn-lt"/>
                <a:cs typeface="Times New Roman"/>
              </a:rPr>
              <a:t>to the column.</a:t>
            </a: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              By assigning </a:t>
            </a:r>
            <a:r>
              <a:rPr lang="en-US" sz="2800" b="1">
                <a:ea typeface="+mn-lt"/>
                <a:cs typeface="+mn-lt"/>
              </a:rPr>
              <a:t>constraints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 </a:t>
            </a:r>
            <a:r>
              <a:rPr lang="en-US" sz="2800">
                <a:latin typeface="Times New Roman"/>
                <a:ea typeface="+mn-lt"/>
                <a:cs typeface="Times New Roman"/>
              </a:rPr>
              <a:t>to the column.</a:t>
            </a:r>
            <a:endParaRPr lang="en-US" sz="2800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F2587-BE16-C822-4D01-D068A084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E744-8E7C-40EB-BF60-89D8DCF9CC8C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3951C-32E7-7E13-3F0B-FA82061D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0B714-83A6-6944-5B65-9EAC6AC6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7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D2A3-F436-3A29-CF29-9CD72D01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87435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Datatypes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8D043-0775-D150-43EA-DA8CB459C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176779"/>
            <a:ext cx="10442448" cy="488502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</a:t>
            </a:r>
            <a:r>
              <a:rPr lang="en-US" sz="2800">
                <a:latin typeface="Times New Roman"/>
                <a:ea typeface="+mn-lt"/>
                <a:cs typeface="Times New Roman"/>
              </a:rPr>
              <a:t>Datatypes are used to determine which kind of data should get stored into </a:t>
            </a:r>
            <a:r>
              <a:rPr lang="en-US" sz="2800" err="1">
                <a:latin typeface="Times New Roman"/>
                <a:ea typeface="+mn-lt"/>
                <a:cs typeface="Times New Roman"/>
              </a:rPr>
              <a:t>perticular</a:t>
            </a:r>
            <a:r>
              <a:rPr lang="en-US" sz="2800">
                <a:latin typeface="Times New Roman"/>
                <a:ea typeface="+mn-lt"/>
                <a:cs typeface="Times New Roman"/>
              </a:rPr>
              <a:t> memory location.</a:t>
            </a: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In SQL, mainly there are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five datatypes:</a:t>
            </a:r>
            <a:r>
              <a:rPr lang="en-US" sz="2800">
                <a:latin typeface="Times New Roman"/>
                <a:ea typeface="+mn-lt"/>
                <a:cs typeface="Times New Roman"/>
              </a:rPr>
              <a:t>-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ea typeface="+mn-lt"/>
                <a:cs typeface="Times New Roman"/>
              </a:rPr>
              <a:t>char()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ea typeface="+mn-lt"/>
                <a:cs typeface="Times New Roman"/>
              </a:rPr>
              <a:t>Varchar() / varchar2()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ea typeface="+mn-lt"/>
                <a:cs typeface="Times New Roman"/>
              </a:rPr>
              <a:t>DATE()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ea typeface="+mn-lt"/>
                <a:cs typeface="Times New Roman"/>
              </a:rPr>
              <a:t>Number()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ea typeface="+mn-lt"/>
                <a:cs typeface="Times New Roman"/>
              </a:rPr>
              <a:t>Large Object:</a:t>
            </a:r>
            <a:endParaRPr lang="en-US" sz="2800" b="1"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 </a:t>
            </a:r>
            <a:r>
              <a:rPr lang="en-US" sz="2800" b="1" err="1">
                <a:latin typeface="Times New Roman"/>
                <a:ea typeface="+mn-lt"/>
                <a:cs typeface="Times New Roman"/>
              </a:rPr>
              <a:t>i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) Character large object()</a:t>
            </a:r>
            <a:endParaRPr lang="en-US" sz="2800" b="1"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 ii) Binary large object()</a:t>
            </a:r>
            <a:endParaRPr lang="en-US" sz="2800" b="1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66D15-C81B-99AE-1BC8-434BBF17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202F-868F-401D-8FAF-344F0A957C87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F4E5-4B4E-C275-5EC4-B56C25BA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E533-ACF4-B0EE-FA85-F9F0F671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36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5931-0E12-58CB-C2A0-3F9ACEEB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63962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  <a:ea typeface="+mj-lt"/>
                <a:cs typeface="+mj-lt"/>
              </a:rPr>
              <a:t>1)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>
                <a:solidFill>
                  <a:srgbClr val="FF0000"/>
                </a:solidFill>
                <a:ea typeface="+mj-lt"/>
                <a:cs typeface="+mj-lt"/>
              </a:rPr>
              <a:t>Char datatype : </a:t>
            </a:r>
            <a:r>
              <a:rPr lang="en-US">
                <a:solidFill>
                  <a:srgbClr val="35403A"/>
                </a:solidFill>
                <a:ea typeface="+mj-lt"/>
                <a:cs typeface="+mj-lt"/>
              </a:rPr>
              <a:t>(</a:t>
            </a:r>
            <a:r>
              <a:rPr lang="en-US">
                <a:ea typeface="+mj-lt"/>
                <a:cs typeface="+mj-lt"/>
              </a:rPr>
              <a:t>fixed type data)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8D240-675F-29D3-7B2D-8822A3C4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821876"/>
            <a:ext cx="10442448" cy="523992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sz="2800" b="1">
              <a:solidFill>
                <a:srgbClr val="FF0000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Syntax:-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char (size)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US"/>
          </a:p>
          <a:p>
            <a:pPr marL="0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provide block required to store (up to 2000)</a:t>
            </a:r>
          </a:p>
          <a:p>
            <a:pPr marL="0" indent="0">
              <a:buNone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Eg:</a:t>
            </a:r>
            <a:r>
              <a:rPr lang="en-US" sz="2800">
                <a:latin typeface="Times New Roman"/>
                <a:ea typeface="+mn-lt"/>
                <a:cs typeface="Times New Roman"/>
              </a:rPr>
              <a:t> </a:t>
            </a:r>
            <a:r>
              <a:rPr lang="en-US" sz="2800">
                <a:latin typeface="Times New Roman"/>
                <a:cs typeface="Times New Roman"/>
              </a:rPr>
              <a:t>char(10)</a:t>
            </a:r>
            <a:endParaRPr lang="en-US"/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char datatype will follow fixed length of memory allocation. (drawback)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char(10)</a:t>
            </a:r>
          </a:p>
          <a:p>
            <a:r>
              <a:rPr lang="en-US" sz="2800">
                <a:latin typeface="Times New Roman"/>
                <a:cs typeface="Times New Roman"/>
              </a:rPr>
              <a:t>[ S | M | I | T | H |  |   |  |  |  ]</a:t>
            </a:r>
          </a:p>
          <a:p>
            <a:pPr marL="228600" lvl="1" indent="0">
              <a:buNone/>
            </a:pPr>
            <a:r>
              <a:rPr lang="en-US" sz="2800">
                <a:latin typeface="Times New Roman"/>
                <a:cs typeface="Times New Roman"/>
              </a:rPr>
              <a:t>  </a:t>
            </a:r>
            <a:r>
              <a:rPr lang="en-US" sz="2800" b="1">
                <a:latin typeface="Times New Roman"/>
                <a:cs typeface="Times New Roman"/>
              </a:rPr>
              <a:t>S M I T H</a:t>
            </a:r>
            <a:r>
              <a:rPr lang="en-US" sz="2800">
                <a:latin typeface="Times New Roman"/>
                <a:ea typeface="+mn-lt"/>
                <a:cs typeface="Times New Roman"/>
              </a:rPr>
              <a:t>   used memory</a:t>
            </a:r>
            <a:endParaRPr lang="en-US" sz="2800"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>
                <a:latin typeface="Times New Roman"/>
                <a:ea typeface="+mn-lt"/>
                <a:cs typeface="Times New Roman"/>
              </a:rPr>
              <a:t>Remaining 5 blocks   unused memory / waste memory</a:t>
            </a:r>
            <a:endParaRPr lang="en-US" sz="2800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5E3A-BC27-66D6-212C-62A21F97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0E8C-EB6F-497D-80A0-C4087286A62A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F39DA-6489-993D-2B50-5E87A5E3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E612-D116-D115-8CB8-A7893AEA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86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B496-ED8A-4BB7-854E-4EED49E4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420422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  <a:ea typeface="+mj-lt"/>
                <a:cs typeface="+mj-lt"/>
              </a:rPr>
              <a:t>2)Varchar / Varchar 2 datatype :</a:t>
            </a:r>
            <a:r>
              <a:rPr lang="en-US">
                <a:ea typeface="+mj-lt"/>
                <a:cs typeface="+mj-lt"/>
              </a:rPr>
              <a:t> (variable size data)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0EB4-0860-2335-46BB-ADB53F6E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14" y="1020204"/>
            <a:ext cx="11381899" cy="50415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Varchar :</a:t>
            </a:r>
            <a:endParaRPr lang="en-US" sz="28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:-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Varchar (size)</a:t>
            </a:r>
            <a:r>
              <a:rPr lang="en-US" sz="2800">
                <a:latin typeface="Times New Roman"/>
                <a:ea typeface="+mn-lt"/>
                <a:cs typeface="Times New Roman"/>
              </a:rPr>
              <a:t> maximum (2000) size</a:t>
            </a:r>
            <a:endParaRPr lang="en-US" sz="2800"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Eg:-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800">
                <a:latin typeface="Times New Roman"/>
                <a:cs typeface="Times New Roman"/>
              </a:rPr>
              <a:t>Varchar (10)</a:t>
            </a:r>
          </a:p>
          <a:p>
            <a:pPr marL="228600" lvl="1" indent="0">
              <a:buNone/>
            </a:pPr>
            <a:r>
              <a:rPr lang="en-US" sz="2800">
                <a:latin typeface="Times New Roman"/>
                <a:cs typeface="Times New Roman"/>
              </a:rPr>
              <a:t>[ 1 | 2 | 3 | 4 | 5 | 6 | 7 | 8 | 9 | 10 ]</a:t>
            </a:r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varchar datatype will follow variable length of memory allocation.</a:t>
            </a:r>
            <a:endParaRPr lang="en-US" sz="2800">
              <a:latin typeface="Times New Roman"/>
              <a:cs typeface="Times New Roman"/>
            </a:endParaRPr>
          </a:p>
          <a:p>
            <a:pPr lvl="1"/>
            <a:r>
              <a:rPr lang="en-US" sz="2800">
                <a:latin typeface="Times New Roman"/>
                <a:cs typeface="Times New Roman"/>
              </a:rPr>
              <a:t>[ S | M | I | T | H ]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Broadway"/>
                <a:ea typeface="+mn-lt"/>
                <a:cs typeface="Times New Roman"/>
              </a:rPr>
              <a:t>|</a:t>
            </a:r>
            <a:r>
              <a:rPr lang="en-US" sz="2800" b="1" dirty="0">
                <a:latin typeface="Broadway"/>
                <a:ea typeface="+mn-lt"/>
                <a:cs typeface="Times New Roman"/>
              </a:rPr>
              <a:t> </a:t>
            </a:r>
            <a:r>
              <a:rPr lang="en-US" sz="2800">
                <a:latin typeface="Times New Roman"/>
                <a:cs typeface="Times New Roman"/>
              </a:rPr>
              <a:t>[  |  |  |  |  ]</a:t>
            </a:r>
          </a:p>
          <a:p>
            <a:pPr lvl="2"/>
            <a:r>
              <a:rPr lang="en-US" sz="2800">
                <a:latin typeface="Times New Roman"/>
                <a:cs typeface="Times New Roman"/>
              </a:rPr>
              <a:t>S M I T H</a:t>
            </a:r>
            <a:r>
              <a:rPr lang="en-US" sz="2800">
                <a:latin typeface="Times New Roman"/>
                <a:ea typeface="+mn-lt"/>
                <a:cs typeface="Times New Roman"/>
              </a:rPr>
              <a:t>  used memory and unused memory will get subtracted and added to original memory, no wastage of memory in it.</a:t>
            </a:r>
            <a:endParaRPr lang="en-US" sz="2800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0CBB5-EB97-4B9D-F485-9D0F7B02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3823-BACB-41B1-B7E9-74FAFEB89933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0A38-F5AE-19DE-5B8F-B7F24965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6A610-FAFB-ADA6-89D1-68706642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FCD5-AFEA-D797-DA80-86CEA5BC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03" y="466971"/>
            <a:ext cx="10442448" cy="2494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Varchar2() :</a:t>
            </a:r>
            <a:endParaRPr lang="en-US" sz="2800" b="1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 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Varchar2(size)</a:t>
            </a:r>
            <a:r>
              <a:rPr lang="en-US" sz="2800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-US" sz="2800">
                <a:latin typeface="Times New Roman"/>
                <a:ea typeface="+mn-lt"/>
                <a:cs typeface="Times New Roman"/>
              </a:rPr>
              <a:t>maximum (4000) size</a:t>
            </a:r>
          </a:p>
          <a:p>
            <a:r>
              <a:rPr lang="en-US" sz="2800" dirty="0">
                <a:latin typeface="Times New Roman"/>
                <a:ea typeface="+mn-lt"/>
                <a:cs typeface="Times New Roman"/>
              </a:rPr>
              <a:t>Varchar 2 is </a:t>
            </a:r>
            <a:r>
              <a:rPr lang="en-US" sz="2800" dirty="0" err="1">
                <a:latin typeface="Times New Roman"/>
                <a:ea typeface="+mn-lt"/>
                <a:cs typeface="Times New Roman"/>
              </a:rPr>
              <a:t>a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updated version of Varchar datatype which specifically </a:t>
            </a:r>
            <a:r>
              <a:rPr lang="en-US" sz="2800">
                <a:latin typeface="Times New Roman"/>
                <a:ea typeface="+mn-lt"/>
                <a:cs typeface="Times New Roman"/>
              </a:rPr>
              <a:t>make for variable size of string data.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6FD8B-FB96-064E-A181-B2634E22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5A-29AA-4FDE-B811-972370DD82EB}" type="datetime1"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DC8F-6AA5-51FF-F0A0-743F0F6A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E09D-8F2C-A628-274F-9C52355A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412EC-88C4-9271-062C-CE3990C43FC2}"/>
              </a:ext>
            </a:extLst>
          </p:cNvPr>
          <p:cNvSpPr txBox="1"/>
          <p:nvPr/>
        </p:nvSpPr>
        <p:spPr>
          <a:xfrm>
            <a:off x="623317" y="2976217"/>
            <a:ext cx="11063417" cy="32129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3) Large Object :</a:t>
            </a:r>
            <a:endParaRPr lang="en-US" sz="2800">
              <a:latin typeface="Times New Roman"/>
              <a:ea typeface="+mn-lt"/>
              <a:cs typeface="Times New Roman"/>
            </a:endParaRPr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This datatype is used to store the large amount of data in the column. The large object has been classified into two types :-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1) Character Large Object :</a:t>
            </a:r>
            <a:endParaRPr lang="en-US" sz="2800" b="1">
              <a:latin typeface="Times New Roman"/>
              <a:ea typeface="+mn-lt"/>
              <a:cs typeface="Times New Roman"/>
            </a:endParaRPr>
          </a:p>
          <a:p>
            <a:r>
              <a:rPr lang="en-US" sz="2800" dirty="0">
                <a:latin typeface="Times New Roman"/>
                <a:ea typeface="+mn-lt"/>
                <a:cs typeface="Times New Roman"/>
              </a:rPr>
              <a:t> This data type is used to store the huge amount of string data </a:t>
            </a:r>
            <a:r>
              <a:rPr lang="en-US" sz="2800" dirty="0" err="1">
                <a:latin typeface="Times New Roman"/>
                <a:ea typeface="+mn-lt"/>
                <a:cs typeface="Times New Roman"/>
              </a:rPr>
              <a:t>upto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4GB.</a:t>
            </a:r>
            <a:endParaRPr lang="en-US" sz="2800" dirty="0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CLOB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()</a:t>
            </a:r>
            <a:endParaRPr lang="en-US" sz="28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l"/>
            <a:endParaRPr lang="en-US" sz="28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827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CFFF-7341-A4CD-BBC2-45CF04A3E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43" y="477409"/>
            <a:ext cx="11183571" cy="60541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    2) Binary Large Object :-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This data type is used to store an any multimedia type of data &amp; maximum limit is 4GB.</a:t>
            </a:r>
            <a:endParaRPr lang="en-US" sz="2800" dirty="0"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BLOB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(multimedia)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 1GB = 1.074{ Million character}</a:t>
            </a:r>
          </a:p>
          <a:p>
            <a:pPr marL="228600" lvl="1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4) DATE() :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This data type is used to store an any date kind of information.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DATE()</a:t>
            </a:r>
          </a:p>
          <a:p>
            <a:pPr marL="0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In SQL, there are two format to stores the data.</a:t>
            </a:r>
          </a:p>
          <a:p>
            <a:pPr marL="0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'DD-MON-YY</a:t>
            </a:r>
            <a:r>
              <a:rPr lang="en-US" sz="2800" dirty="0">
                <a:latin typeface="Times New Roman"/>
                <a:cs typeface="Times New Roman"/>
              </a:rPr>
              <a:t>'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OR 'DD-MON-YYYY</a:t>
            </a:r>
            <a:r>
              <a:rPr lang="en-US" sz="2800" dirty="0">
                <a:latin typeface="Times New Roman"/>
                <a:cs typeface="Times New Roman"/>
              </a:rPr>
              <a:t>'</a:t>
            </a:r>
          </a:p>
          <a:p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EDFA4-67F1-D0D3-B52D-919FD922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0E5-8A96-4C96-8516-9C002D607742}" type="datetime1">
              <a:rPr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66D9E-CF2E-F0E6-1B0C-16EA861F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1144A-508E-03A9-7D28-A67166CB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27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FFAD-4A1A-451C-E340-ADB0B8C73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44" y="226889"/>
            <a:ext cx="10943488" cy="58349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5) Number datatype :</a:t>
            </a:r>
            <a:endParaRPr lang="en-US" sz="2800">
              <a:solidFill>
                <a:srgbClr val="FF0000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 This datatype is used to store any numeric type of data.</a:t>
            </a: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:-</a:t>
            </a:r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Number (Precision, [Scale])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i="1" dirty="0">
                <a:latin typeface="Times New Roman"/>
                <a:ea typeface="+mn-lt"/>
                <a:cs typeface="Times New Roman"/>
              </a:rPr>
              <a:t>(Scale is optional)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Precision 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It is used to determine the number of digits which are required to store an any integer value.</a:t>
            </a:r>
            <a:endParaRPr lang="en-US" sz="2800" dirty="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range of the precision is 1 to 38.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precision value cannot be 'zero' &amp; negative.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ea typeface="+mn-lt"/>
                <a:cs typeface="Times New Roman"/>
              </a:rPr>
              <a:t>The default value for the precision is 38.</a:t>
            </a:r>
            <a:endParaRPr lang="en-US" sz="2800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A6547-B444-E9D8-BECF-6C4CED01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7B24-4262-4942-93FD-20DDAE92D2CB}" type="datetime1">
              <a:rPr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CACE3-02FA-0B41-F841-2DFBFAEF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E98B-C233-8F14-E1DA-1F9C080B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6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6840-344E-014D-1554-182EA619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907" y="592231"/>
            <a:ext cx="10964365" cy="54695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cs typeface="Times New Roman"/>
              </a:rPr>
              <a:t>Scale :</a:t>
            </a:r>
          </a:p>
          <a:p>
            <a:pPr marL="0" indent="0">
              <a:buNone/>
            </a:pPr>
            <a:r>
              <a:rPr lang="en-US" sz="2800" dirty="0">
                <a:latin typeface="Times New Roman"/>
                <a:cs typeface="Times New Roman"/>
              </a:rPr>
              <a:t> Scale is an optional argument which is used to determine </a:t>
            </a:r>
            <a:r>
              <a:rPr lang="en-US" sz="2800" dirty="0" err="1">
                <a:latin typeface="Times New Roman"/>
                <a:cs typeface="Times New Roman"/>
              </a:rPr>
              <a:t>thenumber</a:t>
            </a:r>
            <a:r>
              <a:rPr lang="en-US" sz="2800" dirty="0">
                <a:latin typeface="Times New Roman"/>
                <a:cs typeface="Times New Roman"/>
              </a:rPr>
              <a:t> of digit which are used to store an any decimal part within </a:t>
            </a:r>
            <a:r>
              <a:rPr lang="en-US" sz="2800" dirty="0" err="1">
                <a:latin typeface="Times New Roman"/>
                <a:cs typeface="Times New Roman"/>
              </a:rPr>
              <a:t>thegiven</a:t>
            </a:r>
            <a:r>
              <a:rPr lang="en-US" sz="2800" dirty="0">
                <a:latin typeface="Times New Roman"/>
                <a:cs typeface="Times New Roman"/>
              </a:rPr>
              <a:t> precision.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The range of scale is -84 to +127.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The default value for the scale is zero.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2800" dirty="0">
                <a:latin typeface="Times New Roman"/>
                <a:cs typeface="Times New Roman"/>
              </a:rPr>
              <a:t>It is </a:t>
            </a:r>
            <a:r>
              <a:rPr lang="en-US" sz="2800" dirty="0" err="1">
                <a:latin typeface="Times New Roman"/>
                <a:cs typeface="Times New Roman"/>
              </a:rPr>
              <a:t>a</a:t>
            </a:r>
            <a:r>
              <a:rPr lang="en-US" sz="2800" dirty="0">
                <a:latin typeface="Times New Roman"/>
                <a:cs typeface="Times New Roman"/>
              </a:rPr>
              <a:t> optional argument.</a:t>
            </a:r>
            <a:endParaRPr lang="en-US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D387-CA2B-E996-1AE5-82C112A8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45AB0-5458-4BFE-ACB1-801B0A021E6C}" type="datetime1">
              <a:rPr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3BDC9-8E47-06CC-CB10-A1C84CFC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2C7A7-869D-B3B6-4A58-FD1B7AE5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61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Constraints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Constraints are the rules which are used to validate the schema by assigning any particular 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condition.In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SQL, there are 7 types of constraints: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1) Unique Constraint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used to remove repeated values from any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unique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2) Null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a constraint used to consider a respective column as an optional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  Syntax : Null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 3) Not Null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a constraint used to consider a respective column as a mandatory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   Syntax : Not null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r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4) Check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a constraint used to assign a condition on the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check(condition)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If condition is True → value = 1 (valid); If False → value = 0 (invalid)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Eg : check(salary &gt; 0)  ,  check(length(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mno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) = 10)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5) Autoincrement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used to assign an autoincrement feature to any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Autoincrement(start-point, skip value, end value)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6) Default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used to assign any default value for a column.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Default value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Eg : Default 'ICS'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r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7) Primary Key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Primary key is a constraint used to identify any unique record in the table.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primary key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primary key is a combination of the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Unique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and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Not Null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constraints.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It will not allow any repeated value and also will not allow an empty set.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In one table we can have only one primary key.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primary key of one table can become the foreign key in another table.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We can also make multiple columns together act as one primary key — this kind of column combination is known as a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Composite Key.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r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Foreign Key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Foreign key is used to establish a connection between multiple tables.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Syntax : foreign key(column name) References parent-table-name(col-name)</a:t>
            </a:r>
            <a:endParaRPr lang="en-US"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foreign key is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not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a Not Null constraint — a foreign key column will allow an empty set.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foreign key will allow repeated values of the referenced unique key.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In one table we can have multiple foreign keys.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foreign key will be present in the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child table.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moment we add a foreign key, a relation gets established between the tables. This is also known as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Referential Integrity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constraint.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relation always shows from the parent table to the child table.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r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546" y="588245"/>
            <a:ext cx="10428908" cy="524805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Types of Relationships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57" y="1322916"/>
            <a:ext cx="10651215" cy="47388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In SQL, there are four types of relations: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1) One to One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one record from the parent table refers to only one record in the child table.  Eg : User → Passport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2) One to Many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one record from the parent table refers to many records in the child table.  Eg : Department (1) → Employee (m)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3) Many to One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multiple records refer to only one record in the parent table.  Eg : Student (m) → Department (1)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4) Many to Many :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multiple records from one table refer to multiple records of another table.  Eg : Actors ↔ Movies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To maintain a many-to-one or many-to-many relation, we need to create one more table called a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Junction Table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to handle the relations.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FE4A-BBC8-4DCD-B227-CAF7690E2E8E}" type="datetime1">
              <a:r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1627</Words>
  <Application>Microsoft Office PowerPoint</Application>
  <PresentationFormat>Widescreen</PresentationFormat>
  <Paragraphs>218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 Light</vt:lpstr>
      <vt:lpstr>Arial</vt:lpstr>
      <vt:lpstr>Broadway</vt:lpstr>
      <vt:lpstr>Times New Roman</vt:lpstr>
      <vt:lpstr>Walbaum Display</vt:lpstr>
      <vt:lpstr>BohoVogueVTI</vt:lpstr>
      <vt:lpstr>History of SQL </vt:lpstr>
      <vt:lpstr>PowerPoint Presentation</vt:lpstr>
      <vt:lpstr>DBMS :</vt:lpstr>
      <vt:lpstr>RDBMS And NRDBMS: </vt:lpstr>
      <vt:lpstr>Differenciate :</vt:lpstr>
      <vt:lpstr>Table :</vt:lpstr>
      <vt:lpstr>Rules of Table : Rule 1 — Atomic Data</vt:lpstr>
      <vt:lpstr>Rules of Table : Rule 2 — Schema Validation</vt:lpstr>
      <vt:lpstr>Rules of Table : Rule 3 — Key Attributes</vt:lpstr>
      <vt:lpstr>Rules of Table : Rule 4 — Metadata</vt:lpstr>
      <vt:lpstr>Schema Validation :</vt:lpstr>
      <vt:lpstr>Datatypes :</vt:lpstr>
      <vt:lpstr>1) Char datatype : (fixed type data)</vt:lpstr>
      <vt:lpstr>2)Varchar / Varchar 2 datatype : (variable size data)</vt:lpstr>
      <vt:lpstr>PowerPoint Presentation</vt:lpstr>
      <vt:lpstr>PowerPoint Presentation</vt:lpstr>
      <vt:lpstr>PowerPoint Presentation</vt:lpstr>
      <vt:lpstr>PowerPoint Presentation</vt:lpstr>
      <vt:lpstr>Constraints :</vt:lpstr>
      <vt:lpstr>PowerPoint Presentation</vt:lpstr>
      <vt:lpstr>7) Primary Key :</vt:lpstr>
      <vt:lpstr>Foreign Key :</vt:lpstr>
      <vt:lpstr>Types of Relationships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Apeksha Ugale</cp:lastModifiedBy>
  <cp:revision>53</cp:revision>
  <dcterms:created xsi:type="dcterms:W3CDTF">2026-08-23T04:07:01Z</dcterms:created>
  <dcterms:modified xsi:type="dcterms:W3CDTF">2026-08-23T17:21:40Z</dcterms:modified>
</cp:coreProperties>
</file>