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0D6707-4104-4845-936A-F3D892FCB2AB}" v="10" dt="2026-09-07T19:47:36.7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9283FE-B757-41F5-9096-AC46DC0DFA22}" type="datetimeFigureOut"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188FB-02D3-4F17-B407-0C8EF427B81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2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822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PROJECT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344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Management System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Design, SQL Implementation &amp; Query Report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8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designs a practical relational database to manage day-to-day library operations — members, books, book copies, loans, authors and fines — covering table creation, data entry and query-based reporting.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617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—  Apeksha Ugale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52360" y="82296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FFFFFF">
              <a:alpha val="8000"/>
            </a:srgbClr>
          </a:solidFill>
          <a:ln w="19050">
            <a:solidFill>
              <a:srgbClr val="9FD6E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869680" y="1828800"/>
            <a:ext cx="1097280" cy="10972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9FD6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66760" y="3063240"/>
            <a:ext cx="2103120" cy="960120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9FD6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52360" y="4160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YOUR PHOTO HERE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SQL  •  6 Tables  •  Create / Insert / Select Queries</a:t>
            </a:r>
            <a:endParaRPr lang="en-US" sz="11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F005DD6-B032-8921-4767-BDC3A9D90E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90" t="2916" r="5044" b="304"/>
          <a:stretch>
            <a:fillRect/>
          </a:stretch>
        </p:blipFill>
        <p:spPr>
          <a:xfrm>
            <a:off x="7564727" y="970602"/>
            <a:ext cx="3708299" cy="41419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Object List &amp; Relationships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447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tables in total — 3 parent tables and 3 child tables linked by foreign keys.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9EEF2"/>
          </a:solidFill>
          <a:ln/>
        </p:spPr>
      </p:sp>
      <p:sp>
        <p:nvSpPr>
          <p:cNvPr id="7" name="Shape 5"/>
          <p:cNvSpPr/>
          <p:nvPr/>
        </p:nvSpPr>
        <p:spPr>
          <a:xfrm>
            <a:off x="694944" y="204825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944" y="2048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33856" y="2011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133856" y="226771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  •  5 rows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2523744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" y="269748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Member_ID  — PK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Member_Name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Phone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Join_Date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06240" y="19202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9EEF2"/>
          </a:solidFill>
          <a:ln/>
        </p:spPr>
      </p:sp>
      <p:sp>
        <p:nvSpPr>
          <p:cNvPr id="14" name="Shape 12"/>
          <p:cNvSpPr/>
          <p:nvPr/>
        </p:nvSpPr>
        <p:spPr>
          <a:xfrm>
            <a:off x="4352544" y="204825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52544" y="2048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91456" y="2011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791456" y="226771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  •  5 rows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352544" y="2523744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4352544" y="269748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Book_ID  — PK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Titles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ISBN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Author_Name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Category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Published_Year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Shelf_Code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863840" y="192024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9EEF2"/>
          </a:solidFill>
          <a:ln/>
        </p:spPr>
      </p:sp>
      <p:sp>
        <p:nvSpPr>
          <p:cNvPr id="21" name="Shape 19"/>
          <p:cNvSpPr/>
          <p:nvPr/>
        </p:nvSpPr>
        <p:spPr>
          <a:xfrm>
            <a:off x="8010144" y="204825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10144" y="2048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449056" y="2011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449056" y="226771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  •  5 rows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8010144" y="2523744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8010144" y="269748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Author_ID  — PK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Author_Name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Country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Birth_Year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8640" y="425196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9EEF2"/>
          </a:solidFill>
          <a:ln/>
        </p:spPr>
      </p:sp>
      <p:sp>
        <p:nvSpPr>
          <p:cNvPr id="28" name="Shape 26"/>
          <p:cNvSpPr/>
          <p:nvPr/>
        </p:nvSpPr>
        <p:spPr>
          <a:xfrm>
            <a:off x="694944" y="43799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94944" y="4379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133856" y="4343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Book_Copies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133856" y="45994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of Books  •  15 rows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694944" y="4855464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" y="502920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Copy_ID  — PK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Book_ID  — FK → Books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Acquisition_Date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Copy_Status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06240" y="425196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9EEF2"/>
          </a:solidFill>
          <a:ln/>
        </p:spPr>
      </p:sp>
      <p:sp>
        <p:nvSpPr>
          <p:cNvPr id="35" name="Shape 33"/>
          <p:cNvSpPr/>
          <p:nvPr/>
        </p:nvSpPr>
        <p:spPr>
          <a:xfrm>
            <a:off x="4352544" y="43799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352544" y="4379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791456" y="4343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4791456" y="45994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of Members &amp; Book_Copies  •  15 rows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4352544" y="4855464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4352544" y="502920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Loan_ID  — PK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Member_ID  — FK → Members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Copy_ID  — FK → Book_Copies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Issue_Date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Due_Date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Return_Date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863840" y="425196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9EEF2"/>
          </a:solidFill>
          <a:ln/>
        </p:spPr>
      </p:sp>
      <p:sp>
        <p:nvSpPr>
          <p:cNvPr id="42" name="Shape 40"/>
          <p:cNvSpPr/>
          <p:nvPr/>
        </p:nvSpPr>
        <p:spPr>
          <a:xfrm>
            <a:off x="8010144" y="43799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010144" y="4379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8449056" y="4343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8449056" y="4599432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of Loans  •  5 rows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8010144" y="4855464"/>
            <a:ext cx="3136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A9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8010144" y="5029200"/>
            <a:ext cx="3136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Fine_ID  — PK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Loan_ID  — FK → Loans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Fine_Amount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Paid_Date</a:t>
            </a:r>
            <a:endParaRPr lang="en-US" sz="9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Payment_Status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r>
              <a:rPr lang="en-US" sz="1050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Primary Key      </a:t>
            </a:r>
            <a:r>
              <a:rPr lang="en-US" sz="105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r>
              <a:rPr lang="en-US" sz="1050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Foreign Key (referenced table shown after →)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TABLE Members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40080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83080"/>
            <a:ext cx="59436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Members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Member_ID  VARCHAR(10) PRIMARY KEY,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Member_Name VARCHAR(20) 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Phone NUMBER CHECK (LENGTH(Phone)=10),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VARCHAR(20),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Join_Date DATE 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78040" y="1280160"/>
            <a:ext cx="4480560" cy="2880360"/>
          </a:xfrm>
          <a:prstGeom prst="roundRect">
            <a:avLst>
              <a:gd name="adj" fmla="val 2540"/>
            </a:avLst>
          </a:prstGeom>
          <a:solidFill>
            <a:srgbClr val="E9EE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066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&amp; COLUMNS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37360"/>
          <a:ext cx="4114800" cy="2286000"/>
        </p:xfrm>
        <a:graphic>
          <a:graphicData uri="http://schemas.openxmlformats.org/drawingml/2006/table">
            <a:tbl>
              <a:tblPr/>
              <a:tblGrid>
                <a:gridCol w="1399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CHECK: length = 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Join_Date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178040" y="4343400"/>
            <a:ext cx="4480560" cy="201168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0664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480060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"Members" created successfully.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columns defined.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TABLE Books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40080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83080"/>
            <a:ext cx="59436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Books(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Book_ID NUMBER PRIMARY KEY,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Titles VARCHAR(20),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ISBN NUMBER,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Author_Name VARCHAR(30),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Category VARCHAR(20),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Published_Year NUMBER,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Shelf_Code NUMBER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78040" y="1280160"/>
            <a:ext cx="4480560" cy="2880360"/>
          </a:xfrm>
          <a:prstGeom prst="roundRect">
            <a:avLst>
              <a:gd name="adj" fmla="val 2540"/>
            </a:avLst>
          </a:prstGeom>
          <a:solidFill>
            <a:srgbClr val="E9EE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066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&amp; COLUMNS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37360"/>
          <a:ext cx="4114800" cy="2286000"/>
        </p:xfrm>
        <a:graphic>
          <a:graphicData uri="http://schemas.openxmlformats.org/drawingml/2006/table">
            <a:tbl>
              <a:tblPr/>
              <a:tblGrid>
                <a:gridCol w="1399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ISBN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VARCHAR(30)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Published_Year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Shelf_Code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178040" y="4343400"/>
            <a:ext cx="4480560" cy="201168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0664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480060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"Books" created successfully.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columns defined.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TABLE Book_Copies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of Books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40080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83080"/>
            <a:ext cx="59436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Book_Copies(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Copy_ID  VARCHAR(10) PRIMARY KEY,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Book_ID NUMBER,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Acquisition_Date DATE,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Copy_Status VARCHAR(20),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B1_FK FOREIGN KEY(Book_ID) REFERENCES  Books(Book_ID)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78040" y="1280160"/>
            <a:ext cx="4480560" cy="2880360"/>
          </a:xfrm>
          <a:prstGeom prst="roundRect">
            <a:avLst>
              <a:gd name="adj" fmla="val 2540"/>
            </a:avLst>
          </a:prstGeom>
          <a:solidFill>
            <a:srgbClr val="E9EE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066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&amp; COLUMNS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37360"/>
          <a:ext cx="4114800" cy="2286000"/>
        </p:xfrm>
        <a:graphic>
          <a:graphicData uri="http://schemas.openxmlformats.org/drawingml/2006/table">
            <a:tbl>
              <a:tblPr/>
              <a:tblGrid>
                <a:gridCol w="1399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 → Books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Acquisition_Date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Copy_Status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178040" y="4343400"/>
            <a:ext cx="4480560" cy="201168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0664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480060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"Book_Copies" created successfully.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columns defined with foreign key constraint(s).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TABLE Loans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of Members &amp; Book_Copies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40080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83080"/>
            <a:ext cx="59436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Loans(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Loan_ID VARCHAR(20) PRIMARY KEY,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Member_ID VARCHAR(10),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Copy_ID  VARCHAR(10),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Issue_Date DATE,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Due_Date DATE,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Return_Date DATE,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M1_ID FOREIGN KEY (Member_ID)REFERENCES Members(Member_ID),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C1_ID FOREIGN KEY(Copy_ID)REFERENCES Book_Copies(Copy_ID)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78040" y="1280160"/>
            <a:ext cx="4480560" cy="2880360"/>
          </a:xfrm>
          <a:prstGeom prst="roundRect">
            <a:avLst>
              <a:gd name="adj" fmla="val 2540"/>
            </a:avLst>
          </a:prstGeom>
          <a:solidFill>
            <a:srgbClr val="E9EE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066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&amp; COLUMNS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37360"/>
          <a:ext cx="4114800" cy="2455815"/>
        </p:xfrm>
        <a:graphic>
          <a:graphicData uri="http://schemas.openxmlformats.org/drawingml/2006/table">
            <a:tbl>
              <a:tblPr/>
              <a:tblGrid>
                <a:gridCol w="1399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 → Members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 → Book_Copies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Issue_Date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Due_Date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Return_Date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178040" y="4343400"/>
            <a:ext cx="4480560" cy="201168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0664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480060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"Loans" created successfully.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columns defined with foreign key constraint(s).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TABLE Authors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Table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40080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83080"/>
            <a:ext cx="59436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Authors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Author_ID VARCHAR(10) PRIMARY KEY,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Author_Name VARCHAR(20),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Country VARCHAR(20),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Birth_Year VARCHAR(4)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78040" y="1280160"/>
            <a:ext cx="4480560" cy="2880360"/>
          </a:xfrm>
          <a:prstGeom prst="roundRect">
            <a:avLst>
              <a:gd name="adj" fmla="val 2540"/>
            </a:avLst>
          </a:prstGeom>
          <a:solidFill>
            <a:srgbClr val="E9EE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066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&amp; COLUMNS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37360"/>
          <a:ext cx="4114800" cy="2286000"/>
        </p:xfrm>
        <a:graphic>
          <a:graphicData uri="http://schemas.openxmlformats.org/drawingml/2006/table">
            <a:tbl>
              <a:tblPr/>
              <a:tblGrid>
                <a:gridCol w="1399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Author_Name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Birth_Year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178040" y="4343400"/>
            <a:ext cx="4480560" cy="201168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0664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480060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"Authors" created successfully.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columns defined.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TABLE Fines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of Loans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640080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83080"/>
            <a:ext cx="594360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Fines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Fine_ID VARCHAR(10) PRIMARY KEY,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Loan_ID VARCHAR(20),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Fine_Amount VARCHAR(10) CHECK(Fine_Amount&gt;0),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Paid_Date DATE,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Payment_Status VARCHAR(10),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L1_ID FOREIGN KEY (Loan_ID)REFERENCES Loans(Loan_ID)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78040" y="1280160"/>
            <a:ext cx="4480560" cy="2880360"/>
          </a:xfrm>
          <a:prstGeom prst="roundRect">
            <a:avLst>
              <a:gd name="adj" fmla="val 2540"/>
            </a:avLst>
          </a:prstGeom>
          <a:solidFill>
            <a:srgbClr val="E9EE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06640" y="1417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&amp; COLUMNS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1737360"/>
          <a:ext cx="4114800" cy="2286000"/>
        </p:xfrm>
        <a:graphic>
          <a:graphicData uri="http://schemas.openxmlformats.org/drawingml/2006/table">
            <a:tbl>
              <a:tblPr/>
              <a:tblGrid>
                <a:gridCol w="1399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 → Loans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Fine_Amount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CHECK: &gt;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178040" y="4343400"/>
            <a:ext cx="4480560" cy="2011680"/>
          </a:xfrm>
          <a:prstGeom prst="roundRect">
            <a:avLst>
              <a:gd name="adj" fmla="val 3636"/>
            </a:avLst>
          </a:prstGeom>
          <a:solidFill>
            <a:srgbClr val="1C7293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0664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406640" y="480060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"Fines" created successfully.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columns defined with foreign key constraint(s).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Records — Members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 inserted into Members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36676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37360"/>
            <a:ext cx="79095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 Members VALUES('M01','SHRUTI',9782453216,'shruti@gmail.com',sysdate);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 Members VALUES('M02','RUTUJA',9784444216,'rutuja@gmail.com',sysdate);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 Members VALUES('M03','POOJA',9782451212,'pooja@gmail.com',sysdate);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 Members VALUES('M04','BHAKTI',9782497821,'bhakti@gmail.com',sysdate);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 Members VALUES('M05','DIPTI',9782495321,'dipti@gmail.com',sysdate);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098280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0982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31343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Member_ID, Member_Name, Phone, Email, Join_Date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98280" y="402336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8116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4434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5120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row(s) created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Records — Books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 inserted into Books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36676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37360"/>
            <a:ext cx="79095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Books VALUES(01,'The Hobbit',12345678201865,'J.R.R. Tolkien','Fantasy',1937,4563);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Books VALUES(02,'Dracula',12348875701865,'Bram Stoker','Horror',1981,4541);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Books VALUES(03,'ATOMIC HABIT',123456782472581,'HEELO','Fantasy',1995,1534);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Books VALUES(04,'The Alchemist',1234567889451,'Paulo Coelho','Fiction',1955,8647);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Books VALUES(05,'Beloved',12345678288896,'Toni Morrison','Historical Fiction',1922,9574);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098280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0982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31343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Book_ID, Titles, ISBN, Author_Name, Category, Published_Year, Shelf_Code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98280" y="402336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8116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4434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5120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row(s) created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Records — Book_Copies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rows inserted into Book_Copies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36676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37360"/>
            <a:ext cx="79095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VALUES('C01',01,'01-FEB-2024','AVAILABLE');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VALUES('C02',02,'28-FEB-2026','NOT 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VALUES('C03',01,'01-APR-2025','AVAILABLE');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VALUES('C04',04,'12-JAN-2024','NOT 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VALUES('C05',03,'01-FEB-2021','NOT 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VALUES('C06',05,'11-APR-2021','AVAILABLE');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VALUES('C07',02,'10-JUN-2024','NOT 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VALUES('C08',04,'01-MAR-2024','AVAILABLE');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VALUES('C09',03,'05-DEC-2024','NOT 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VALUES('C10',02,'19-SEP-2024','AVAILABLE');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VALUES('C11',05,'20-JUL-2024','AVAILABLE');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VALUES('C12',04,'21-MAY-2024','NOT 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VALUES('C13',03,'31-DEC-2022','AVAILABLE');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VALUES('C14',02,'01-FEB-2021',' NOT AVAILABLE');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Book_Copies VALUES('C15',01,'01-AUG-2024','AVAILABLE');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098280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0982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Book_Copies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31343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Copy_ID, Book_ID, Acquisition_Date, Copy_Status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98280" y="402336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8116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4434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5120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row(s) created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Records — Loans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rows inserted into Loans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36676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37360"/>
            <a:ext cx="79095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VALUES('LN01','M01','C01','01-FEB-2024','07-FEB-2024','09-FEB-2024');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VALUES('LN02','M02','C02','28-FEB-2026','03-MAR-2026','02-MAR-2026');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VALUES('LN03','M03','C03','01-APR-2025','07-APR-2025','04-APR-2025');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VALUES('LN04','M04','C04','12-JAN-2024','18-JAN-2024','18-JAN-2024');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VALUES('LN05','M05','C05','01-FEB-2021','06-FEB-2021','10-FEB-2021');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VALUES('LN06','M03','C06','11-APR-2021','18-APR-2021','24-APR-2021');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VALUES('LN07','M02','C07','10-JUN-2024','17-JUN-2024','15-JUN-2024');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VALUES('LN08','M04','C08','01-MAR-2024','07-MAR-2024','05-MAR-2024');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VALUES('LN09','M01','C09','05-DEC-2024','12-DEC-2024','10-DEC-2024');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VALUES('LN10','M05','C10','19-SEP-2024','25-SEP-2024','28-SEP-2024');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VALUES('LN11','M03','C11','20-JUL-2024','27-JUL-2024','15-AUG-2024');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VALUES('LN12','M02','C12','21-MAY-2024','26-MAY-2024','24-MAY-2024');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VALUES('LN13','M01','C13','31-DEC-2022','05-JAN-2023','11-JAN-2023');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VALUES('LN14','M05','C14','01-FEB-2021','06-FEB-2021','04-FEB-2021');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Loans VALUES('LN15','M04','C15','01-AUG-2024','06-AUG-2024','10-AUG-2024');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9098280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0982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31343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Loan_ID, Member_ID, Copy_ID, Issue_Date, Due_Date, Return_Date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98280" y="402336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8116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4434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5120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row(s) created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Records — Authors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 inserted into Authors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36676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37360"/>
            <a:ext cx="79095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Authors VALUES('AID01','J.R.R. Tolkien','INDIA','1891');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Authors VALUES('AID02','Bram Stoker','INDIA','1899');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Authors VALUES('AID03','HEELO','INDIA','1991');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Authors VALUES('AID05','Paulo Coelho','INDIA','1881');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Authors VALUES('AID04','Toni Morrison','INDIA','1879');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098280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0982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31343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Author_ID, Author_Name, Country, Birth_Year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98280" y="402336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8116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4434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5120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row(s) created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Insert Records — Fines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8503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 inserted into Fines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366760" cy="5074920"/>
          </a:xfrm>
          <a:prstGeom prst="roundRect">
            <a:avLst>
              <a:gd name="adj" fmla="val 1802"/>
            </a:avLst>
          </a:prstGeom>
          <a:solidFill>
            <a:srgbClr val="12233A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63040"/>
            <a:ext cx="128016" cy="128016"/>
          </a:xfrm>
          <a:prstGeom prst="ellipse">
            <a:avLst/>
          </a:prstGeom>
          <a:solidFill>
            <a:srgbClr val="F16A6A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463040"/>
            <a:ext cx="128016" cy="128016"/>
          </a:xfrm>
          <a:prstGeom prst="ellipse">
            <a:avLst/>
          </a:prstGeom>
          <a:solidFill>
            <a:srgbClr val="F5C144"/>
          </a:solidFill>
          <a:ln/>
        </p:spPr>
      </p:sp>
      <p:sp>
        <p:nvSpPr>
          <p:cNvPr id="9" name="Shape 7"/>
          <p:cNvSpPr/>
          <p:nvPr/>
        </p:nvSpPr>
        <p:spPr>
          <a:xfrm>
            <a:off x="1161288" y="1463040"/>
            <a:ext cx="128016" cy="128016"/>
          </a:xfrm>
          <a:prstGeom prst="ellipse">
            <a:avLst/>
          </a:prstGeom>
          <a:solidFill>
            <a:srgbClr val="4CD07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1737360"/>
            <a:ext cx="790956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Fines VALUES('F01','LN01',200,SYSDATE,'PAID');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Fines VALUES('F02','LN05',100,NULL,'UNPAID');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Fines VALUES('F03','LN06',300,NULL,'UNPAID');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Fines VALUES('F04','LN10',250,'28-SEP-2024','PAID');</a:t>
            </a:r>
            <a:endParaRPr lang="en-US" sz="11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FE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Fines VALUES('F05','LN13',350,NULL,'UNPAID');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098280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098280" y="1536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2057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313432"/>
            <a:ext cx="2560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Fine_ID, Loan_ID, Fine_Amount, Paid_Date, Payment_Status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98280" y="402336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8116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8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4434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2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51206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row(s) created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Output — Members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223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960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Members;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194560"/>
        </p:xfrm>
        <a:graphic>
          <a:graphicData uri="http://schemas.openxmlformats.org/drawingml/2006/table">
            <a:tbl>
              <a:tblPr/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JOIN_DATE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SHRUTI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9782453216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shruti@gmail.com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08-SEP-2026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RUTUJA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9784444216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rutuja@gmail.com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08-SEP-2026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POOJA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9782451212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pooja@gmail.com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08-SEP-2026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BHAKTI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9782497821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bhakti@gmail.com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08-SEP-2026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DIPTI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9782495321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dipti@gmail.com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08-SEP-2026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977640"/>
            <a:ext cx="51206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3977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row(s) selected.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5262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above lists all 5 rows of the Members table exactly as returned by the query, confirming the data was inserted correctly.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Output — Books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223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960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*FROM Books;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194560"/>
        </p:xfrm>
        <a:graphic>
          <a:graphicData uri="http://schemas.openxmlformats.org/drawingml/2006/table">
            <a:tbl>
              <a:tblPr/>
              <a:tblGrid>
                <a:gridCol w="1580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06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0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0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06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060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060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ISBN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AUTHOR_NAME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PUB_YEAR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Hobbit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12345678201865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J.R.R. Tolkien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Fantasy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4563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Dracula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12348875701865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Bram Stoker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ATOMIC HABIT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123456782472581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HEELO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Fantasy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Alchemist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1234567889451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Paulo Coelho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Beloved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12345678288896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Toni Morrison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Hist. Fiction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977640"/>
            <a:ext cx="51206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3977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row(s) selected.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5262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above lists all 5 rows of the Books table exactly as returned by the query, confirming the data was inserted correctly.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Output — Book_Copies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223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960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*FROM Book_Copies;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709160"/>
        </p:xfrm>
        <a:graphic>
          <a:graphicData uri="http://schemas.openxmlformats.org/drawingml/2006/table">
            <a:tbl>
              <a:tblPr/>
              <a:tblGrid>
                <a:gridCol w="276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ACQUISITION_DATE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COPY_STATUS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01-FEB-2024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28-FEB-2026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01-APR-2025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12-JAN-2024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01-FEB-2021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11-APR-2021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10-JUN-2024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01-MAR-2024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05-DEC-2024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19-SEP-2024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20-JUL-2024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21-MAY-2024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31-DEC-2022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01-FEB-2021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01-AUG-2024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6492240"/>
            <a:ext cx="51206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6492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row(s) selected.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Output — Loans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223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960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Loans;</a:t>
            </a:r>
            <a:endParaRPr lang="en-US" sz="1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709160"/>
        </p:xfrm>
        <a:graphic>
          <a:graphicData uri="http://schemas.openxmlformats.org/drawingml/2006/table">
            <a:tbl>
              <a:tblPr/>
              <a:tblGrid>
                <a:gridCol w="1844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4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ISSUE_DATE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DUE_DATE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RETURN_DATE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01-FEB-2024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07-FEB-2024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09-FEB-2024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28-FEB-2026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03-MAR-2026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02-MAR-2026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01-APR-2025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07-APR-2025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04-APR-2025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12-JAN-2024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18-JAN-2024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18-JAN-2024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01-FEB-2021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06-FEB-2021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10-FEB-2021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11-APR-2021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18-APR-2021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24-APR-2021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10-JUN-2024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17-JUN-2024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15-JUN-2024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01-MAR-2024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07-MAR-2024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05-MAR-2024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05-DEC-2024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12-DEC-2024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10-DEC-2024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19-SEP-2024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25-SEP-2024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28-SEP-2024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20-JUL-2024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27-JUL-2024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15-AUG-2024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21-MAY-2024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26-MAY-2024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24-MAY-2024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31-DEC-2022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05-JAN-2023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11-JAN-2023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01-FEB-2021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06-FEB-2021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04-FEB-2021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432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01-AUG-2024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06-AUG-2024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10-AUG-2024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6492240"/>
            <a:ext cx="51206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6492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row(s) selected.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Output — Authors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223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960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*FROM Authors;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194560"/>
        </p:xfrm>
        <a:graphic>
          <a:graphicData uri="http://schemas.openxmlformats.org/drawingml/2006/table">
            <a:tbl>
              <a:tblPr/>
              <a:tblGrid>
                <a:gridCol w="276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AUTHOR_NAME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BIRTH_YEAR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AID01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J.R.R. Tolkien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AID02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Bram Stoker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AID03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HEELO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AID05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Paulo Coelho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AID04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Toni Morrison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977640"/>
            <a:ext cx="51206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3977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row(s) selected.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5262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above lists all 5 rows of the Authors table exactly as returned by the query, confirming the data was inserted correctly.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2468880" y="45720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Output — Fines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223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960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FE3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*FROM Fines;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194560"/>
        </p:xfrm>
        <a:graphic>
          <a:graphicData uri="http://schemas.openxmlformats.org/drawingml/2006/table">
            <a:tbl>
              <a:tblPr/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FINE_AMOUNT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PAID_DATE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08-SEP-2026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UNPAID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LN06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UNPAID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28-SEP-2024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F05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LN13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UNPAID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977640"/>
            <a:ext cx="512064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3977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row(s) selected.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5262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55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above lists all 5 rows of the Fines table exactly as returned by the query, confirming the data was inserted correctly.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57200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1737360" cy="36576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515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198424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920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3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implemented a normalized 6-table Oracle database covering members, books, authors, book copies, loans and fines.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358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2971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3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referential integrity through primary and foreign key constraints across all parent-child table relationships.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8736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023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3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Populated every table with sample data and validated it through CREATE, INSERT and SELECT queries.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13892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138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0749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3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supports real library operations — tracking book availability, loan history and fine payments — and can be extended with reports such as overdue loans or most-borrowed books.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080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FD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Apeksha Ugale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54887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21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8</cp:revision>
  <dcterms:created xsi:type="dcterms:W3CDTF">2026-09-07T19:41:51Z</dcterms:created>
  <dcterms:modified xsi:type="dcterms:W3CDTF">2026-09-07T19:47:59Z</dcterms:modified>
</cp:coreProperties>
</file>